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4" r:id="rId1"/>
  </p:sldMasterIdLst>
  <p:sldIdLst>
    <p:sldId id="256" r:id="rId2"/>
    <p:sldId id="259" r:id="rId3"/>
    <p:sldId id="257" r:id="rId4"/>
    <p:sldId id="258" r:id="rId5"/>
    <p:sldId id="260" r:id="rId6"/>
    <p:sldId id="261" r:id="rId7"/>
    <p:sldId id="262" r:id="rId8"/>
    <p:sldId id="263" r:id="rId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0" d="100"/>
          <a:sy n="100" d="100"/>
        </p:scale>
        <p:origin x="9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12F228-4281-497E-DC63-C62A9402244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5B42344-648A-EF93-93C9-1C8A2C4809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8A7C3919-28AD-5478-F680-B5B3535EF290}"/>
              </a:ext>
            </a:extLst>
          </p:cNvPr>
          <p:cNvSpPr>
            <a:spLocks noGrp="1"/>
          </p:cNvSpPr>
          <p:nvPr>
            <p:ph type="dt" sz="half" idx="10"/>
          </p:nvPr>
        </p:nvSpPr>
        <p:spPr/>
        <p:txBody>
          <a:bodyPr/>
          <a:lstStyle/>
          <a:p>
            <a:fld id="{E31BA835-12AC-4E8F-955A-EA3F4DE2791F}" type="datetime1">
              <a:rPr lang="en-US" smtClean="0"/>
              <a:t>3/18/2026</a:t>
            </a:fld>
            <a:endParaRPr lang="en-US"/>
          </a:p>
        </p:txBody>
      </p:sp>
      <p:sp>
        <p:nvSpPr>
          <p:cNvPr id="5" name="Espace réservé du pied de page 4">
            <a:extLst>
              <a:ext uri="{FF2B5EF4-FFF2-40B4-BE49-F238E27FC236}">
                <a16:creationId xmlns:a16="http://schemas.microsoft.com/office/drawing/2014/main" id="{1727B354-DC66-E63A-9CE9-9C96C4E97231}"/>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05C8BD97-CAF8-20B2-DBC2-6D869381175A}"/>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191904608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99E0AA-16D9-C522-508D-DF5E9246340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9CA65FF-28C4-D117-4BDE-F06777A994E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C4133F4-0B25-A477-CDD4-F6BB3CF7E54A}"/>
              </a:ext>
            </a:extLst>
          </p:cNvPr>
          <p:cNvSpPr>
            <a:spLocks noGrp="1"/>
          </p:cNvSpPr>
          <p:nvPr>
            <p:ph type="dt" sz="half" idx="10"/>
          </p:nvPr>
        </p:nvSpPr>
        <p:spPr/>
        <p:txBody>
          <a:bodyPr/>
          <a:lstStyle/>
          <a:p>
            <a:fld id="{E31BA835-12AC-4E8F-955A-EA3F4DE2791F}" type="datetime1">
              <a:rPr lang="en-US" smtClean="0"/>
              <a:t>3/18/2026</a:t>
            </a:fld>
            <a:endParaRPr lang="en-US"/>
          </a:p>
        </p:txBody>
      </p:sp>
      <p:sp>
        <p:nvSpPr>
          <p:cNvPr id="5" name="Espace réservé du pied de page 4">
            <a:extLst>
              <a:ext uri="{FF2B5EF4-FFF2-40B4-BE49-F238E27FC236}">
                <a16:creationId xmlns:a16="http://schemas.microsoft.com/office/drawing/2014/main" id="{406A3533-10DF-B0B7-862C-0B5CE28053E6}"/>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C839543E-D1B2-0120-C21C-D20530F70B00}"/>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309502418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AFAC52-F56C-0F0F-6866-8FAA528EABA0}"/>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66811F38-D99F-F043-9471-551776FA07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A9405F3-738B-5F3D-2D17-65B644B8C67F}"/>
              </a:ext>
            </a:extLst>
          </p:cNvPr>
          <p:cNvSpPr>
            <a:spLocks noGrp="1"/>
          </p:cNvSpPr>
          <p:nvPr>
            <p:ph type="dt" sz="half" idx="10"/>
          </p:nvPr>
        </p:nvSpPr>
        <p:spPr/>
        <p:txBody>
          <a:bodyPr/>
          <a:lstStyle/>
          <a:p>
            <a:fld id="{E31BA835-12AC-4E8F-955A-EA3F4DE2791F}" type="datetime1">
              <a:rPr lang="en-US" smtClean="0"/>
              <a:t>3/18/2026</a:t>
            </a:fld>
            <a:endParaRPr lang="en-US"/>
          </a:p>
        </p:txBody>
      </p:sp>
      <p:sp>
        <p:nvSpPr>
          <p:cNvPr id="5" name="Espace réservé du pied de page 4">
            <a:extLst>
              <a:ext uri="{FF2B5EF4-FFF2-40B4-BE49-F238E27FC236}">
                <a16:creationId xmlns:a16="http://schemas.microsoft.com/office/drawing/2014/main" id="{31EC75B8-F81F-0CF4-9D54-A78E270875AC}"/>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6E5A466D-35BF-316A-C304-051F864A8CB3}"/>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218182065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36CF06-853A-ABD4-E1F4-8BDE4C19A64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60D2943-5ABF-9221-C56A-9A85016B1FD3}"/>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6401B89-2B9E-1DFC-5FCA-2C5F077D4C5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15F21C6-AB8F-346E-8D4F-A19F2E707F7C}"/>
              </a:ext>
            </a:extLst>
          </p:cNvPr>
          <p:cNvSpPr>
            <a:spLocks noGrp="1"/>
          </p:cNvSpPr>
          <p:nvPr>
            <p:ph type="dt" sz="half" idx="10"/>
          </p:nvPr>
        </p:nvSpPr>
        <p:spPr/>
        <p:txBody>
          <a:bodyPr/>
          <a:lstStyle/>
          <a:p>
            <a:fld id="{E31BA835-12AC-4E8F-955A-EA3F4DE2791F}" type="datetime1">
              <a:rPr lang="en-US" smtClean="0"/>
              <a:t>3/18/2026</a:t>
            </a:fld>
            <a:endParaRPr lang="en-US"/>
          </a:p>
        </p:txBody>
      </p:sp>
      <p:sp>
        <p:nvSpPr>
          <p:cNvPr id="6" name="Espace réservé du pied de page 5">
            <a:extLst>
              <a:ext uri="{FF2B5EF4-FFF2-40B4-BE49-F238E27FC236}">
                <a16:creationId xmlns:a16="http://schemas.microsoft.com/office/drawing/2014/main" id="{616538CF-8CAD-7D8F-2A92-E10F080E9C9D}"/>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FF8420B7-5D58-B792-B299-0B0E8E291FC6}"/>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174643003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8CCC1B-81D2-BA2C-D8E2-C1EA4EF824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9EF5F5DE-DB6D-E7F0-BC64-9FA73904F6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DB75D2A-9BC6-8D6B-CE3E-62AE28B3FE9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FE3EC0D-640B-3B4D-D994-839C26F083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B2FF6B1-56F5-1B74-47F3-0656C3D42DE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9B7DA34-842B-3C19-5ECE-23B04B3B26E1}"/>
              </a:ext>
            </a:extLst>
          </p:cNvPr>
          <p:cNvSpPr>
            <a:spLocks noGrp="1"/>
          </p:cNvSpPr>
          <p:nvPr>
            <p:ph type="dt" sz="half" idx="10"/>
          </p:nvPr>
        </p:nvSpPr>
        <p:spPr/>
        <p:txBody>
          <a:bodyPr/>
          <a:lstStyle/>
          <a:p>
            <a:fld id="{E31BA835-12AC-4E8F-955A-EA3F4DE2791F}" type="datetime1">
              <a:rPr lang="en-US" smtClean="0"/>
              <a:t>3/18/2026</a:t>
            </a:fld>
            <a:endParaRPr lang="en-US"/>
          </a:p>
        </p:txBody>
      </p:sp>
      <p:sp>
        <p:nvSpPr>
          <p:cNvPr id="8" name="Espace réservé du pied de page 7">
            <a:extLst>
              <a:ext uri="{FF2B5EF4-FFF2-40B4-BE49-F238E27FC236}">
                <a16:creationId xmlns:a16="http://schemas.microsoft.com/office/drawing/2014/main" id="{1A1F0C38-F51E-44B1-71E3-1E9487804C2C}"/>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69F5CC44-EAA6-C59E-A1D7-D1CA523C899A}"/>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285535318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FCEC8D-C48F-0C87-9CDF-588DF8867DE2}"/>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1B3B29F-BE5C-DCFF-08ED-8D31DD1225C2}"/>
              </a:ext>
            </a:extLst>
          </p:cNvPr>
          <p:cNvSpPr>
            <a:spLocks noGrp="1"/>
          </p:cNvSpPr>
          <p:nvPr>
            <p:ph type="dt" sz="half" idx="10"/>
          </p:nvPr>
        </p:nvSpPr>
        <p:spPr/>
        <p:txBody>
          <a:bodyPr/>
          <a:lstStyle/>
          <a:p>
            <a:fld id="{E31BA835-12AC-4E8F-955A-EA3F4DE2791F}" type="datetime1">
              <a:rPr lang="en-US" smtClean="0"/>
              <a:t>3/18/2026</a:t>
            </a:fld>
            <a:endParaRPr lang="en-US"/>
          </a:p>
        </p:txBody>
      </p:sp>
      <p:sp>
        <p:nvSpPr>
          <p:cNvPr id="4" name="Espace réservé du pied de page 3">
            <a:extLst>
              <a:ext uri="{FF2B5EF4-FFF2-40B4-BE49-F238E27FC236}">
                <a16:creationId xmlns:a16="http://schemas.microsoft.com/office/drawing/2014/main" id="{D79D16AE-735B-B35D-FA56-847A692AAA37}"/>
              </a:ext>
            </a:extLst>
          </p:cNvPr>
          <p:cNvSpPr>
            <a:spLocks noGrp="1"/>
          </p:cNvSpPr>
          <p:nvPr>
            <p:ph type="ftr" sz="quarter" idx="11"/>
          </p:nvPr>
        </p:nvSpPr>
        <p:spPr/>
        <p:txBody>
          <a:bodyPr/>
          <a:lstStyle/>
          <a:p>
            <a:endParaRPr lang="en-US"/>
          </a:p>
        </p:txBody>
      </p:sp>
      <p:sp>
        <p:nvSpPr>
          <p:cNvPr id="5" name="Espace réservé du numéro de diapositive 4">
            <a:extLst>
              <a:ext uri="{FF2B5EF4-FFF2-40B4-BE49-F238E27FC236}">
                <a16:creationId xmlns:a16="http://schemas.microsoft.com/office/drawing/2014/main" id="{4D054292-30B2-C14A-DF3D-F597417F0902}"/>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37862731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9DE2F7A-02A5-A7DD-D92E-0D6E6E2694AE}"/>
              </a:ext>
            </a:extLst>
          </p:cNvPr>
          <p:cNvSpPr>
            <a:spLocks noGrp="1"/>
          </p:cNvSpPr>
          <p:nvPr>
            <p:ph type="dt" sz="half" idx="10"/>
          </p:nvPr>
        </p:nvSpPr>
        <p:spPr/>
        <p:txBody>
          <a:bodyPr/>
          <a:lstStyle/>
          <a:p>
            <a:fld id="{E31BA835-12AC-4E8F-955A-EA3F4DE2791F}" type="datetime1">
              <a:rPr lang="en-US" smtClean="0"/>
              <a:t>3/18/2026</a:t>
            </a:fld>
            <a:endParaRPr lang="en-US"/>
          </a:p>
        </p:txBody>
      </p:sp>
      <p:sp>
        <p:nvSpPr>
          <p:cNvPr id="3" name="Espace réservé du pied de page 2">
            <a:extLst>
              <a:ext uri="{FF2B5EF4-FFF2-40B4-BE49-F238E27FC236}">
                <a16:creationId xmlns:a16="http://schemas.microsoft.com/office/drawing/2014/main" id="{58F428C1-C479-1D58-7CD9-00D14D8F6E9C}"/>
              </a:ext>
            </a:extLst>
          </p:cNvPr>
          <p:cNvSpPr>
            <a:spLocks noGrp="1"/>
          </p:cNvSpPr>
          <p:nvPr>
            <p:ph type="ftr" sz="quarter" idx="11"/>
          </p:nvPr>
        </p:nvSpPr>
        <p:spPr/>
        <p:txBody>
          <a:bodyPr/>
          <a:lstStyle/>
          <a:p>
            <a:endParaRPr lang="en-US"/>
          </a:p>
        </p:txBody>
      </p:sp>
      <p:sp>
        <p:nvSpPr>
          <p:cNvPr id="4" name="Espace réservé du numéro de diapositive 3">
            <a:extLst>
              <a:ext uri="{FF2B5EF4-FFF2-40B4-BE49-F238E27FC236}">
                <a16:creationId xmlns:a16="http://schemas.microsoft.com/office/drawing/2014/main" id="{11DADCD4-F447-AB80-71A8-3A8DB27F2B29}"/>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199661966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35D6C1-D450-2235-FB5A-A1ED1F39982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BAA953D-EF49-9547-90A7-FCA229299C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E30A6ADF-97A7-C9FE-DD63-BDF6645289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3F462A3-12A1-64C3-A791-11875B62C7AF}"/>
              </a:ext>
            </a:extLst>
          </p:cNvPr>
          <p:cNvSpPr>
            <a:spLocks noGrp="1"/>
          </p:cNvSpPr>
          <p:nvPr>
            <p:ph type="dt" sz="half" idx="10"/>
          </p:nvPr>
        </p:nvSpPr>
        <p:spPr/>
        <p:txBody>
          <a:bodyPr/>
          <a:lstStyle/>
          <a:p>
            <a:fld id="{E31BA835-12AC-4E8F-955A-EA3F4DE2791F}" type="datetime1">
              <a:rPr lang="en-US" smtClean="0"/>
              <a:t>3/18/2026</a:t>
            </a:fld>
            <a:endParaRPr lang="en-US"/>
          </a:p>
        </p:txBody>
      </p:sp>
      <p:sp>
        <p:nvSpPr>
          <p:cNvPr id="6" name="Espace réservé du pied de page 5">
            <a:extLst>
              <a:ext uri="{FF2B5EF4-FFF2-40B4-BE49-F238E27FC236}">
                <a16:creationId xmlns:a16="http://schemas.microsoft.com/office/drawing/2014/main" id="{500C950E-4AE1-8917-3600-8EAFAFD6B203}"/>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98943CCC-CFE5-4435-8F3B-50887D2C780D}"/>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32371554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7F2478-0BB2-790F-FAE0-734C0305167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1B8602A1-B8C9-197B-7406-817DDBDC9F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3C3F4A36-0986-A8DB-B5E8-8BA34BE701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1043F90-F4F0-2366-0340-E2462048E188}"/>
              </a:ext>
            </a:extLst>
          </p:cNvPr>
          <p:cNvSpPr>
            <a:spLocks noGrp="1"/>
          </p:cNvSpPr>
          <p:nvPr>
            <p:ph type="dt" sz="half" idx="10"/>
          </p:nvPr>
        </p:nvSpPr>
        <p:spPr/>
        <p:txBody>
          <a:bodyPr/>
          <a:lstStyle/>
          <a:p>
            <a:fld id="{E31BA835-12AC-4E8F-955A-EA3F4DE2791F}" type="datetime1">
              <a:rPr lang="en-US" smtClean="0"/>
              <a:t>3/18/2026</a:t>
            </a:fld>
            <a:endParaRPr lang="en-US"/>
          </a:p>
        </p:txBody>
      </p:sp>
      <p:sp>
        <p:nvSpPr>
          <p:cNvPr id="6" name="Espace réservé du pied de page 5">
            <a:extLst>
              <a:ext uri="{FF2B5EF4-FFF2-40B4-BE49-F238E27FC236}">
                <a16:creationId xmlns:a16="http://schemas.microsoft.com/office/drawing/2014/main" id="{BE7A505A-3201-4041-1C43-BA5E9137FEA3}"/>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0E63C34E-6D79-39F0-9DFA-5C8FD346AA17}"/>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86376017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CEBC15-C254-E4F4-1D0F-E60A95B75AA1}"/>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2511CD1-E428-AA73-5CEE-BD84B43DD11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46DB022-DB8C-34B0-D55B-BBC062018AD5}"/>
              </a:ext>
            </a:extLst>
          </p:cNvPr>
          <p:cNvSpPr>
            <a:spLocks noGrp="1"/>
          </p:cNvSpPr>
          <p:nvPr>
            <p:ph type="dt" sz="half" idx="10"/>
          </p:nvPr>
        </p:nvSpPr>
        <p:spPr/>
        <p:txBody>
          <a:bodyPr/>
          <a:lstStyle/>
          <a:p>
            <a:fld id="{E31BA835-12AC-4E8F-955A-EA3F4DE2791F}" type="datetime1">
              <a:rPr lang="en-US" smtClean="0"/>
              <a:t>3/18/2026</a:t>
            </a:fld>
            <a:endParaRPr lang="en-US"/>
          </a:p>
        </p:txBody>
      </p:sp>
      <p:sp>
        <p:nvSpPr>
          <p:cNvPr id="5" name="Espace réservé du pied de page 4">
            <a:extLst>
              <a:ext uri="{FF2B5EF4-FFF2-40B4-BE49-F238E27FC236}">
                <a16:creationId xmlns:a16="http://schemas.microsoft.com/office/drawing/2014/main" id="{F1218EE4-8E20-C6E3-FC1D-038224377EC3}"/>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07F03561-751E-31B9-81CB-97EF90274882}"/>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51924684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EEEDCA8-6845-9830-D0C4-80E3DE40F8E0}"/>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3F5DF76-FECF-49D3-D119-95C4799D226E}"/>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5DE05BF-42F4-C8A6-8396-62E6D6A2C09A}"/>
              </a:ext>
            </a:extLst>
          </p:cNvPr>
          <p:cNvSpPr>
            <a:spLocks noGrp="1"/>
          </p:cNvSpPr>
          <p:nvPr>
            <p:ph type="dt" sz="half" idx="10"/>
          </p:nvPr>
        </p:nvSpPr>
        <p:spPr/>
        <p:txBody>
          <a:bodyPr/>
          <a:lstStyle/>
          <a:p>
            <a:fld id="{E31BA835-12AC-4E8F-955A-EA3F4DE2791F}" type="datetime1">
              <a:rPr lang="en-US" smtClean="0"/>
              <a:t>3/18/2026</a:t>
            </a:fld>
            <a:endParaRPr lang="en-US"/>
          </a:p>
        </p:txBody>
      </p:sp>
      <p:sp>
        <p:nvSpPr>
          <p:cNvPr id="5" name="Espace réservé du pied de page 4">
            <a:extLst>
              <a:ext uri="{FF2B5EF4-FFF2-40B4-BE49-F238E27FC236}">
                <a16:creationId xmlns:a16="http://schemas.microsoft.com/office/drawing/2014/main" id="{6D38991C-26F7-BD67-0829-83DF41172E37}"/>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E117A692-9DE7-2EB7-AB56-E9DFAA9BF6EA}"/>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149872475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8710CA1-91EF-0A12-9929-1276E7F1FA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0925499-EF3C-F8AD-8B36-F03144F792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30EBFCE-27ED-AED0-64C6-852EC16A08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1BA835-12AC-4E8F-955A-EA3F4DE2791F}" type="datetime1">
              <a:rPr lang="en-US" smtClean="0"/>
              <a:t>3/18/2026</a:t>
            </a:fld>
            <a:endParaRPr lang="en-US"/>
          </a:p>
        </p:txBody>
      </p:sp>
      <p:sp>
        <p:nvSpPr>
          <p:cNvPr id="5" name="Espace réservé du pied de page 4">
            <a:extLst>
              <a:ext uri="{FF2B5EF4-FFF2-40B4-BE49-F238E27FC236}">
                <a16:creationId xmlns:a16="http://schemas.microsoft.com/office/drawing/2014/main" id="{3C3C006A-6DD3-A7CD-1348-EA59DD9C70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Espace réservé du numéro de diapositive 5">
            <a:extLst>
              <a:ext uri="{FF2B5EF4-FFF2-40B4-BE49-F238E27FC236}">
                <a16:creationId xmlns:a16="http://schemas.microsoft.com/office/drawing/2014/main" id="{F75F5B0D-15FF-E649-925F-1E467F9E15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E7843D-FF13-4365-9478-9625B70A2705}" type="slidenum">
              <a:rPr lang="en-US" smtClean="0"/>
              <a:t>‹N°›</a:t>
            </a:fld>
            <a:endParaRPr lang="en-US"/>
          </a:p>
        </p:txBody>
      </p:sp>
    </p:spTree>
    <p:extLst>
      <p:ext uri="{BB962C8B-B14F-4D97-AF65-F5344CB8AC3E}">
        <p14:creationId xmlns:p14="http://schemas.microsoft.com/office/powerpoint/2010/main" val="1323933711"/>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ADA6BD-5D67-2100-7F66-031C409B67A4}"/>
              </a:ext>
            </a:extLst>
          </p:cNvPr>
          <p:cNvSpPr>
            <a:spLocks noGrp="1"/>
          </p:cNvSpPr>
          <p:nvPr>
            <p:ph type="ctrTitle"/>
          </p:nvPr>
        </p:nvSpPr>
        <p:spPr>
          <a:xfrm>
            <a:off x="647700" y="871759"/>
            <a:ext cx="7467600" cy="3913784"/>
          </a:xfrm>
        </p:spPr>
        <p:txBody>
          <a:bodyPr>
            <a:normAutofit/>
          </a:bodyPr>
          <a:lstStyle/>
          <a:p>
            <a:r>
              <a:rPr lang="fr-FR" sz="7400"/>
              <a:t>STAGE M1 BBS : cumputational neurosciences</a:t>
            </a:r>
          </a:p>
        </p:txBody>
      </p:sp>
      <p:sp>
        <p:nvSpPr>
          <p:cNvPr id="3" name="Sous-titre 2">
            <a:extLst>
              <a:ext uri="{FF2B5EF4-FFF2-40B4-BE49-F238E27FC236}">
                <a16:creationId xmlns:a16="http://schemas.microsoft.com/office/drawing/2014/main" id="{A63C97DF-B923-580A-CA37-5AEC46519D79}"/>
              </a:ext>
            </a:extLst>
          </p:cNvPr>
          <p:cNvSpPr>
            <a:spLocks noGrp="1"/>
          </p:cNvSpPr>
          <p:nvPr>
            <p:ph type="subTitle" idx="1"/>
          </p:nvPr>
        </p:nvSpPr>
        <p:spPr>
          <a:xfrm>
            <a:off x="695325" y="4785543"/>
            <a:ext cx="7419975" cy="1005657"/>
          </a:xfrm>
        </p:spPr>
        <p:txBody>
          <a:bodyPr>
            <a:normAutofit/>
          </a:bodyPr>
          <a:lstStyle/>
          <a:p>
            <a:r>
              <a:rPr lang="fr-FR"/>
              <a:t>Figures obtenues et toute les explications nécessaires</a:t>
            </a:r>
          </a:p>
        </p:txBody>
      </p:sp>
    </p:spTree>
    <p:extLst>
      <p:ext uri="{BB962C8B-B14F-4D97-AF65-F5344CB8AC3E}">
        <p14:creationId xmlns:p14="http://schemas.microsoft.com/office/powerpoint/2010/main" val="2314509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428649-6EBF-1304-3AC8-592B66F31B89}"/>
              </a:ext>
            </a:extLst>
          </p:cNvPr>
          <p:cNvSpPr>
            <a:spLocks noGrp="1"/>
          </p:cNvSpPr>
          <p:nvPr>
            <p:ph type="title"/>
          </p:nvPr>
        </p:nvSpPr>
        <p:spPr/>
        <p:txBody>
          <a:bodyPr/>
          <a:lstStyle/>
          <a:p>
            <a:r>
              <a:rPr lang="fr-FR" dirty="0"/>
              <a:t>Information sur le </a:t>
            </a:r>
            <a:r>
              <a:rPr lang="fr-FR" dirty="0" err="1"/>
              <a:t>dataset</a:t>
            </a:r>
            <a:endParaRPr lang="fr-FR" dirty="0"/>
          </a:p>
        </p:txBody>
      </p:sp>
      <p:sp>
        <p:nvSpPr>
          <p:cNvPr id="3" name="Espace réservé du contenu 2">
            <a:extLst>
              <a:ext uri="{FF2B5EF4-FFF2-40B4-BE49-F238E27FC236}">
                <a16:creationId xmlns:a16="http://schemas.microsoft.com/office/drawing/2014/main" id="{3BF2AD84-4D6B-68E9-E17D-5E14F9978CB7}"/>
              </a:ext>
            </a:extLst>
          </p:cNvPr>
          <p:cNvSpPr>
            <a:spLocks noGrp="1"/>
          </p:cNvSpPr>
          <p:nvPr>
            <p:ph idx="1"/>
          </p:nvPr>
        </p:nvSpPr>
        <p:spPr/>
        <p:txBody>
          <a:bodyPr/>
          <a:lstStyle/>
          <a:p>
            <a:r>
              <a:rPr lang="fr-FR" dirty="0"/>
              <a:t>49 sujets Femmes et Hommes tous adultes 18 à x ans</a:t>
            </a:r>
          </a:p>
          <a:p>
            <a:r>
              <a:rPr lang="fr-FR" dirty="0"/>
              <a:t>68 régions du cerveau 34 pour chaque hémisphère</a:t>
            </a:r>
          </a:p>
          <a:p>
            <a:r>
              <a:rPr lang="fr-FR" dirty="0"/>
              <a:t>Enregistrement d’IRM fonctionnelle au repos durant ~20 minutes</a:t>
            </a:r>
          </a:p>
          <a:p>
            <a:pPr marL="0" indent="0">
              <a:buNone/>
            </a:pPr>
            <a:r>
              <a:rPr lang="fr-FR" dirty="0"/>
              <a:t>(IRMf fonctionne grâce la mesure de l’utilisation de l’oxygène par les cellules nerveuses)</a:t>
            </a:r>
          </a:p>
        </p:txBody>
      </p:sp>
    </p:spTree>
    <p:extLst>
      <p:ext uri="{BB962C8B-B14F-4D97-AF65-F5344CB8AC3E}">
        <p14:creationId xmlns:p14="http://schemas.microsoft.com/office/powerpoint/2010/main" val="882032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340AA3BC-0AD3-25D9-46B9-9444081FCCA6}"/>
              </a:ext>
            </a:extLst>
          </p:cNvPr>
          <p:cNvPicPr>
            <a:picLocks noChangeAspect="1"/>
          </p:cNvPicPr>
          <p:nvPr/>
        </p:nvPicPr>
        <p:blipFill>
          <a:blip r:embed="rId2"/>
          <a:stretch>
            <a:fillRect/>
          </a:stretch>
        </p:blipFill>
        <p:spPr>
          <a:xfrm>
            <a:off x="1129827" y="0"/>
            <a:ext cx="10176348" cy="5184430"/>
          </a:xfrm>
          <a:prstGeom prst="rect">
            <a:avLst/>
          </a:prstGeom>
        </p:spPr>
      </p:pic>
      <p:sp>
        <p:nvSpPr>
          <p:cNvPr id="5" name="ZoneTexte 4">
            <a:extLst>
              <a:ext uri="{FF2B5EF4-FFF2-40B4-BE49-F238E27FC236}">
                <a16:creationId xmlns:a16="http://schemas.microsoft.com/office/drawing/2014/main" id="{86501505-96A2-5DE6-E84D-E1C5AF5F9694}"/>
              </a:ext>
            </a:extLst>
          </p:cNvPr>
          <p:cNvSpPr txBox="1"/>
          <p:nvPr/>
        </p:nvSpPr>
        <p:spPr>
          <a:xfrm>
            <a:off x="329561" y="5285412"/>
            <a:ext cx="11703553" cy="1323439"/>
          </a:xfrm>
          <a:prstGeom prst="rect">
            <a:avLst/>
          </a:prstGeom>
          <a:noFill/>
        </p:spPr>
        <p:txBody>
          <a:bodyPr wrap="square" rtlCol="0">
            <a:spAutoFit/>
          </a:bodyPr>
          <a:lstStyle/>
          <a:p>
            <a:r>
              <a:rPr lang="fr-FR" sz="1600" dirty="0"/>
              <a:t>Matrice de corrélation de la force de connectivité fonctionnelle et structurelle moyenne avec 3 groupes d’âge, SC représente quels nœuds sont connectés avec quels autres nœuds, FC représente quels nœuds ont des activités synchronisées avec d’autres nœuds -&gt; création de modules. (Ici la connectivité structurelle est sous log car force comprise entre 1 -&gt; 10^10) Interprétation: On voit une baisse de la corrélation au niveau de la connectivité fonctionnelle avec l’âge ce qui veut dire que l’âge à un effet négatif sur la synchronisation des différents nœuds, on ne voit pas de modifications majeures de la force de connectivité structurale ici</a:t>
            </a:r>
          </a:p>
        </p:txBody>
      </p:sp>
    </p:spTree>
    <p:extLst>
      <p:ext uri="{BB962C8B-B14F-4D97-AF65-F5344CB8AC3E}">
        <p14:creationId xmlns:p14="http://schemas.microsoft.com/office/powerpoint/2010/main" val="2764224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BEE71B-A510-974D-E68E-767427EC6945}"/>
              </a:ext>
            </a:extLst>
          </p:cNvPr>
          <p:cNvSpPr>
            <a:spLocks noGrp="1"/>
          </p:cNvSpPr>
          <p:nvPr>
            <p:ph type="title"/>
          </p:nvPr>
        </p:nvSpPr>
        <p:spPr/>
        <p:txBody>
          <a:bodyPr/>
          <a:lstStyle/>
          <a:p>
            <a:endParaRPr lang="fr-FR" dirty="0"/>
          </a:p>
        </p:txBody>
      </p:sp>
      <p:pic>
        <p:nvPicPr>
          <p:cNvPr id="5" name="Image 4">
            <a:extLst>
              <a:ext uri="{FF2B5EF4-FFF2-40B4-BE49-F238E27FC236}">
                <a16:creationId xmlns:a16="http://schemas.microsoft.com/office/drawing/2014/main" id="{AD506FBB-C647-4904-C3BA-DBCB2BC6B66F}"/>
              </a:ext>
            </a:extLst>
          </p:cNvPr>
          <p:cNvPicPr>
            <a:picLocks noChangeAspect="1"/>
          </p:cNvPicPr>
          <p:nvPr/>
        </p:nvPicPr>
        <p:blipFill>
          <a:blip r:embed="rId2"/>
          <a:stretch>
            <a:fillRect/>
          </a:stretch>
        </p:blipFill>
        <p:spPr>
          <a:xfrm>
            <a:off x="419100" y="0"/>
            <a:ext cx="11353800" cy="5620320"/>
          </a:xfrm>
          <a:prstGeom prst="rect">
            <a:avLst/>
          </a:prstGeom>
        </p:spPr>
      </p:pic>
      <p:sp>
        <p:nvSpPr>
          <p:cNvPr id="7" name="ZoneTexte 6">
            <a:extLst>
              <a:ext uri="{FF2B5EF4-FFF2-40B4-BE49-F238E27FC236}">
                <a16:creationId xmlns:a16="http://schemas.microsoft.com/office/drawing/2014/main" id="{4E953B0D-7EBD-0602-5CB4-D59EC6CFAAE1}"/>
              </a:ext>
            </a:extLst>
          </p:cNvPr>
          <p:cNvSpPr txBox="1"/>
          <p:nvPr/>
        </p:nvSpPr>
        <p:spPr>
          <a:xfrm>
            <a:off x="419100" y="5715000"/>
            <a:ext cx="11353800" cy="923330"/>
          </a:xfrm>
          <a:prstGeom prst="rect">
            <a:avLst/>
          </a:prstGeom>
          <a:noFill/>
        </p:spPr>
        <p:txBody>
          <a:bodyPr wrap="square" rtlCol="0">
            <a:spAutoFit/>
          </a:bodyPr>
          <a:lstStyle/>
          <a:p>
            <a:r>
              <a:rPr lang="fr-FR" dirty="0"/>
              <a:t>Connectivité Fonctionnelle moyenne et son évolution avec l’âge au niveau inter et intra hémisphère on voit une baisse de la connectivité fonctionnelle moyenne avec l’âge faible différence inter et intra hémisphère pas d’influence entre synchronisation entre différent hémisphère ou le même</a:t>
            </a:r>
          </a:p>
        </p:txBody>
      </p:sp>
    </p:spTree>
    <p:extLst>
      <p:ext uri="{BB962C8B-B14F-4D97-AF65-F5344CB8AC3E}">
        <p14:creationId xmlns:p14="http://schemas.microsoft.com/office/powerpoint/2010/main" val="2496262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9C6D3F8C-4ED5-0686-08E8-C7792BD444FD}"/>
              </a:ext>
            </a:extLst>
          </p:cNvPr>
          <p:cNvPicPr>
            <a:picLocks noChangeAspect="1"/>
          </p:cNvPicPr>
          <p:nvPr/>
        </p:nvPicPr>
        <p:blipFill>
          <a:blip r:embed="rId2"/>
          <a:stretch>
            <a:fillRect/>
          </a:stretch>
        </p:blipFill>
        <p:spPr>
          <a:xfrm>
            <a:off x="593387" y="0"/>
            <a:ext cx="10797702" cy="5345042"/>
          </a:xfrm>
          <a:prstGeom prst="rect">
            <a:avLst/>
          </a:prstGeom>
        </p:spPr>
      </p:pic>
      <p:sp>
        <p:nvSpPr>
          <p:cNvPr id="6" name="ZoneTexte 5">
            <a:extLst>
              <a:ext uri="{FF2B5EF4-FFF2-40B4-BE49-F238E27FC236}">
                <a16:creationId xmlns:a16="http://schemas.microsoft.com/office/drawing/2014/main" id="{0DB61F1C-4683-FB83-EDB4-8A9F10C6F82C}"/>
              </a:ext>
            </a:extLst>
          </p:cNvPr>
          <p:cNvSpPr txBox="1"/>
          <p:nvPr/>
        </p:nvSpPr>
        <p:spPr>
          <a:xfrm>
            <a:off x="243191" y="5680953"/>
            <a:ext cx="11741286" cy="923330"/>
          </a:xfrm>
          <a:prstGeom prst="rect">
            <a:avLst/>
          </a:prstGeom>
          <a:noFill/>
        </p:spPr>
        <p:txBody>
          <a:bodyPr wrap="square" rtlCol="0">
            <a:spAutoFit/>
          </a:bodyPr>
          <a:lstStyle/>
          <a:p>
            <a:r>
              <a:rPr lang="fr-FR" dirty="0"/>
              <a:t>Connectivité Structurelle Moyenne en fonction de l’âge au niveau  inter et intra hémisphère, on peut voir qu’il y a une différence de Force de SC au niveau intra hémisphère &gt; inter hémisphère car ça représente juste la présence anatomique d’une connexion entre 2 nœuds, il y a plus de liens entre nœuds du même hémisphère que l’inverse</a:t>
            </a:r>
          </a:p>
        </p:txBody>
      </p:sp>
    </p:spTree>
    <p:extLst>
      <p:ext uri="{BB962C8B-B14F-4D97-AF65-F5344CB8AC3E}">
        <p14:creationId xmlns:p14="http://schemas.microsoft.com/office/powerpoint/2010/main" val="3136074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6A138407-C45F-4452-4DC0-E934A1C4A603}"/>
              </a:ext>
            </a:extLst>
          </p:cNvPr>
          <p:cNvPicPr>
            <a:picLocks noChangeAspect="1"/>
          </p:cNvPicPr>
          <p:nvPr/>
        </p:nvPicPr>
        <p:blipFill>
          <a:blip r:embed="rId2"/>
          <a:srcRect t="52841"/>
          <a:stretch>
            <a:fillRect/>
          </a:stretch>
        </p:blipFill>
        <p:spPr>
          <a:xfrm>
            <a:off x="0" y="0"/>
            <a:ext cx="12192000" cy="2802741"/>
          </a:xfrm>
          <a:prstGeom prst="rect">
            <a:avLst/>
          </a:prstGeom>
        </p:spPr>
      </p:pic>
      <p:sp>
        <p:nvSpPr>
          <p:cNvPr id="6" name="ZoneTexte 5">
            <a:extLst>
              <a:ext uri="{FF2B5EF4-FFF2-40B4-BE49-F238E27FC236}">
                <a16:creationId xmlns:a16="http://schemas.microsoft.com/office/drawing/2014/main" id="{07C0B6AE-3D10-E754-8728-3C5F4B32FB2A}"/>
              </a:ext>
            </a:extLst>
          </p:cNvPr>
          <p:cNvSpPr txBox="1"/>
          <p:nvPr/>
        </p:nvSpPr>
        <p:spPr>
          <a:xfrm>
            <a:off x="8162786" y="3185614"/>
            <a:ext cx="3793724" cy="3416320"/>
          </a:xfrm>
          <a:prstGeom prst="rect">
            <a:avLst/>
          </a:prstGeom>
          <a:noFill/>
        </p:spPr>
        <p:txBody>
          <a:bodyPr wrap="square" rtlCol="0">
            <a:spAutoFit/>
          </a:bodyPr>
          <a:lstStyle/>
          <a:p>
            <a:r>
              <a:rPr lang="fr-FR" dirty="0"/>
              <a:t>Evolution du log SC et de la connectivité fonctionnelle pour chaque nœud avec l’âge avec barre d’erreur et si c’est significatif ou non. On voit que tous les nœuds ayant une valeur statistique significatif suffisant on une force de connectivité structurelle et fonctionnelle qui baisse avec l’âge, les régions affectés par l’âge ne sont pas forcément les mêmes pour la SC et la FC</a:t>
            </a:r>
          </a:p>
        </p:txBody>
      </p:sp>
      <p:pic>
        <p:nvPicPr>
          <p:cNvPr id="9" name="Image 8">
            <a:extLst>
              <a:ext uri="{FF2B5EF4-FFF2-40B4-BE49-F238E27FC236}">
                <a16:creationId xmlns:a16="http://schemas.microsoft.com/office/drawing/2014/main" id="{0B634BC2-CD7D-8673-F399-4E20ACEFD9C7}"/>
              </a:ext>
            </a:extLst>
          </p:cNvPr>
          <p:cNvPicPr>
            <a:picLocks noChangeAspect="1"/>
          </p:cNvPicPr>
          <p:nvPr/>
        </p:nvPicPr>
        <p:blipFill>
          <a:blip r:embed="rId3"/>
          <a:stretch>
            <a:fillRect/>
          </a:stretch>
        </p:blipFill>
        <p:spPr>
          <a:xfrm>
            <a:off x="0" y="2929548"/>
            <a:ext cx="7962900" cy="3928452"/>
          </a:xfrm>
          <a:prstGeom prst="rect">
            <a:avLst/>
          </a:prstGeom>
        </p:spPr>
      </p:pic>
    </p:spTree>
    <p:extLst>
      <p:ext uri="{BB962C8B-B14F-4D97-AF65-F5344CB8AC3E}">
        <p14:creationId xmlns:p14="http://schemas.microsoft.com/office/powerpoint/2010/main" val="260939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6C9F7BCE-361E-9531-E36C-BE1C6193B942}"/>
              </a:ext>
            </a:extLst>
          </p:cNvPr>
          <p:cNvPicPr>
            <a:picLocks noChangeAspect="1"/>
          </p:cNvPicPr>
          <p:nvPr/>
        </p:nvPicPr>
        <p:blipFill>
          <a:blip r:embed="rId2"/>
          <a:stretch>
            <a:fillRect/>
          </a:stretch>
        </p:blipFill>
        <p:spPr>
          <a:xfrm>
            <a:off x="966787" y="0"/>
            <a:ext cx="10258425" cy="5047796"/>
          </a:xfrm>
          <a:prstGeom prst="rect">
            <a:avLst/>
          </a:prstGeom>
        </p:spPr>
      </p:pic>
      <p:sp>
        <p:nvSpPr>
          <p:cNvPr id="6" name="ZoneTexte 5">
            <a:extLst>
              <a:ext uri="{FF2B5EF4-FFF2-40B4-BE49-F238E27FC236}">
                <a16:creationId xmlns:a16="http://schemas.microsoft.com/office/drawing/2014/main" id="{013D6B17-FC0D-D300-648A-253F11D9DCF2}"/>
              </a:ext>
            </a:extLst>
          </p:cNvPr>
          <p:cNvSpPr txBox="1"/>
          <p:nvPr/>
        </p:nvSpPr>
        <p:spPr>
          <a:xfrm>
            <a:off x="109536" y="5257800"/>
            <a:ext cx="11972925" cy="1200329"/>
          </a:xfrm>
          <a:prstGeom prst="rect">
            <a:avLst/>
          </a:prstGeom>
          <a:noFill/>
        </p:spPr>
        <p:txBody>
          <a:bodyPr wrap="square" rtlCol="0">
            <a:spAutoFit/>
          </a:bodyPr>
          <a:lstStyle/>
          <a:p>
            <a:r>
              <a:rPr lang="fr-FR" dirty="0"/>
              <a:t>Création d’une partition pour la connectivité fonctionnelle moyenne -&gt; regroupe les nœuds en différentes communautés avec l’algorithme de </a:t>
            </a:r>
            <a:r>
              <a:rPr lang="fr-FR" dirty="0" err="1"/>
              <a:t>louvain</a:t>
            </a:r>
            <a:r>
              <a:rPr lang="fr-FR" dirty="0"/>
              <a:t> on répète cette algorithme 100x pour avoir un résultat plus fiable avec cela on peut faire une partition consensus -&gt; communautés/groupes les plus probables, on voit que l’algorithme à détecter 3 groupes différents</a:t>
            </a:r>
          </a:p>
        </p:txBody>
      </p:sp>
    </p:spTree>
    <p:extLst>
      <p:ext uri="{BB962C8B-B14F-4D97-AF65-F5344CB8AC3E}">
        <p14:creationId xmlns:p14="http://schemas.microsoft.com/office/powerpoint/2010/main" val="635476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4E335ADF-0BBC-BB47-4883-6192ED1B779D}"/>
              </a:ext>
            </a:extLst>
          </p:cNvPr>
          <p:cNvPicPr>
            <a:picLocks noChangeAspect="1"/>
          </p:cNvPicPr>
          <p:nvPr/>
        </p:nvPicPr>
        <p:blipFill>
          <a:blip r:embed="rId2"/>
          <a:stretch>
            <a:fillRect/>
          </a:stretch>
        </p:blipFill>
        <p:spPr>
          <a:xfrm>
            <a:off x="1043755" y="-9525"/>
            <a:ext cx="10104489" cy="4972050"/>
          </a:xfrm>
          <a:prstGeom prst="rect">
            <a:avLst/>
          </a:prstGeom>
        </p:spPr>
      </p:pic>
      <p:sp>
        <p:nvSpPr>
          <p:cNvPr id="6" name="ZoneTexte 5">
            <a:extLst>
              <a:ext uri="{FF2B5EF4-FFF2-40B4-BE49-F238E27FC236}">
                <a16:creationId xmlns:a16="http://schemas.microsoft.com/office/drawing/2014/main" id="{B73F7B20-10B1-AA21-6B1B-BE79A7A2F8EE}"/>
              </a:ext>
            </a:extLst>
          </p:cNvPr>
          <p:cNvSpPr txBox="1"/>
          <p:nvPr/>
        </p:nvSpPr>
        <p:spPr>
          <a:xfrm>
            <a:off x="176211" y="5210175"/>
            <a:ext cx="11839575" cy="1200329"/>
          </a:xfrm>
          <a:prstGeom prst="rect">
            <a:avLst/>
          </a:prstGeom>
          <a:noFill/>
        </p:spPr>
        <p:txBody>
          <a:bodyPr wrap="square" rtlCol="0">
            <a:spAutoFit/>
          </a:bodyPr>
          <a:lstStyle/>
          <a:p>
            <a:r>
              <a:rPr lang="fr-FR" dirty="0"/>
              <a:t>Création de partitions de la connectivité structurelle -&gt; algorithme de </a:t>
            </a:r>
            <a:r>
              <a:rPr lang="fr-FR" dirty="0" err="1"/>
              <a:t>louvain</a:t>
            </a:r>
            <a:r>
              <a:rPr lang="fr-FR" dirty="0"/>
              <a:t> on fait 100 runs -&gt; création d’un consensus on voit que l’algorithme trouve 4 groupes différents et on a une bonne séparation entre les 2 hémisphère 34 premiers nœuds = hémisphère gauche 34 derniers nœuds = hémisphère droit</a:t>
            </a:r>
          </a:p>
          <a:p>
            <a:r>
              <a:rPr lang="fr-FR" dirty="0"/>
              <a:t>Pour le consensus on voit qu’il a conserver uniquement 3 groupes</a:t>
            </a:r>
          </a:p>
        </p:txBody>
      </p:sp>
    </p:spTree>
    <p:extLst>
      <p:ext uri="{BB962C8B-B14F-4D97-AF65-F5344CB8AC3E}">
        <p14:creationId xmlns:p14="http://schemas.microsoft.com/office/powerpoint/2010/main" val="143210337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54</TotalTime>
  <Words>449</Words>
  <Application>Microsoft Office PowerPoint</Application>
  <PresentationFormat>Grand écran</PresentationFormat>
  <Paragraphs>14</Paragraphs>
  <Slides>8</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8</vt:i4>
      </vt:variant>
    </vt:vector>
  </HeadingPairs>
  <TitlesOfParts>
    <vt:vector size="12" baseType="lpstr">
      <vt:lpstr>Aptos</vt:lpstr>
      <vt:lpstr>Aptos Display</vt:lpstr>
      <vt:lpstr>Arial</vt:lpstr>
      <vt:lpstr>Thème Office</vt:lpstr>
      <vt:lpstr>STAGE M1 BBS : cumputational neurosciences</vt:lpstr>
      <vt:lpstr>Information sur le dataset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Aurélio Vitale</dc:creator>
  <cp:lastModifiedBy>Aurélio Vitale</cp:lastModifiedBy>
  <cp:revision>3</cp:revision>
  <dcterms:created xsi:type="dcterms:W3CDTF">2026-03-18T15:32:28Z</dcterms:created>
  <dcterms:modified xsi:type="dcterms:W3CDTF">2026-03-18T16:26:39Z</dcterms:modified>
</cp:coreProperties>
</file>